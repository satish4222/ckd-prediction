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6" r:id="rId3"/>
    <p:sldId id="257" r:id="rId4"/>
    <p:sldId id="305" r:id="rId5"/>
    <p:sldId id="304" r:id="rId6"/>
    <p:sldId id="278" r:id="rId7"/>
    <p:sldId id="297" r:id="rId8"/>
    <p:sldId id="300" r:id="rId9"/>
    <p:sldId id="303" r:id="rId10"/>
    <p:sldId id="294" r:id="rId11"/>
    <p:sldId id="335" r:id="rId12"/>
    <p:sldId id="332" r:id="rId13"/>
    <p:sldId id="259" r:id="rId14"/>
    <p:sldId id="313" r:id="rId15"/>
    <p:sldId id="321" r:id="rId16"/>
    <p:sldId id="317" r:id="rId17"/>
    <p:sldId id="320" r:id="rId18"/>
    <p:sldId id="315" r:id="rId19"/>
    <p:sldId id="325" r:id="rId20"/>
    <p:sldId id="316" r:id="rId21"/>
    <p:sldId id="262" r:id="rId22"/>
    <p:sldId id="263" r:id="rId23"/>
    <p:sldId id="292" r:id="rId24"/>
    <p:sldId id="266" r:id="rId25"/>
    <p:sldId id="33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TOSH TRIPATHY (RA2111043010075)" initials="AT" lastIdx="1" clrIdx="0">
    <p:extLst>
      <p:ext uri="{19B8F6BF-5375-455C-9EA6-DF929625EA0E}">
        <p15:presenceInfo xmlns:p15="http://schemas.microsoft.com/office/powerpoint/2012/main" userId="S::at4950@srmist.edu.in::a3cdf947-6fef-4aaf-9530-9127ca901c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3883" autoAdjust="0"/>
  </p:normalViewPr>
  <p:slideViewPr>
    <p:cSldViewPr snapToGrid="0">
      <p:cViewPr varScale="1">
        <p:scale>
          <a:sx n="106" d="100"/>
          <a:sy n="106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D714F-9809-4713-A443-A8AFF964E22B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ECC4D-44A9-4D1B-B88E-852867090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260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C4D-44A9-4D1B-B88E-85286709047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14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C4D-44A9-4D1B-B88E-85286709047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15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C4D-44A9-4D1B-B88E-85286709047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873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1E1D-6E26-8D4B-FB98-6CD77794F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B56E6-9121-A817-BBBF-0B4A27C81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4139E-1725-025C-5EF8-DF6FF22A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8C9C-F356-1DC9-790B-39720F5D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FE826-549D-BC98-7729-1324AB15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74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AA9F-A242-65D7-87B1-C5FD949C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BD5E7-F14C-279F-D876-3466C9E27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0C3A2-A824-13F7-EC10-85211C86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477E-DDC0-BBCF-AC76-03B00AE4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04B3D-8A87-635A-53A0-2C839E3E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7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E40C-6B7F-FDAC-9F65-93E1DC6C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A9817-6F3A-37DE-4AAD-C600C3F76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B6D77-32C5-7687-B46D-046FA4D2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151F0-732A-283E-1474-10D600918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79AAB-1FAF-0A03-62C0-FA3480D3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31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3E3D-15AD-F36A-395B-8A55A18B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82127-FA4D-C3AB-31B3-43A3C9DD9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81464-792A-9755-48DA-2B95077CD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70422-DFBE-532A-37BF-805D1B2C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5FD1C-7967-515D-94F8-93F7DF2D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F0453-EB7F-DD6F-3941-674E52F8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375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24D3-1C54-C6AB-C364-9A713AB7E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02ED1-2FEB-1C6F-0ECD-660383E03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F3B94-E52E-2591-9234-6E505A2F4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6DBCF-0048-2822-C73F-4F87278DB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E2F19-C37A-AF5A-5847-23EE8E299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12EC3-47E1-15BF-E702-6B56FB1A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DA03BF-3123-D7D2-721F-2EBF91F53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EECE6-E939-A149-3E07-1E24ADD1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80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89F8-C81E-303C-F75B-C52DC8712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A5FFB-3AB5-52FB-C13F-B54696A4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84108-28E0-92BC-B66A-E72532B84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F2475C-B23C-6685-43CC-83863DBE6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28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6FB6B0-7E77-1F35-58DF-DEED96F1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3A3F9-BEC3-0F37-C00B-44C2BE6E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CF6D9-B1A7-3A87-A320-E07F699B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9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94FD4-74ED-8EC7-483A-E3889E62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5B09C-6FB0-7094-C1DA-7D7A4DD32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0FE55-F74F-7EAB-F2AF-C57C73820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E36BE-3A33-8163-6D57-7B3D02139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1320C-189C-353F-A774-9AE16015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9A2BC-B112-D2E6-972F-AF085760C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19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AA05-2E63-36A1-65FE-0454C95EA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00D9AF-CB7E-FAA2-7292-077DCD807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28CF2-8C84-AC2D-3DE7-F142D1FF9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F1D36-7546-0001-1137-9B719198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5D7C0-934D-1BB3-2B9B-B6AB4E89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263D1-8B15-337B-9FA7-34D28E3E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96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231C-B24F-EC8F-EDA4-CCE62855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E956B-CB6B-90AB-5A07-04EECE826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03E7B-3492-6657-DFA0-9E2BC0135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B89DC-A4BE-16BF-7D8E-2AFA559FF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4C9E3-C576-E8B2-C70F-31E41728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84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B9B361-3486-F2AD-1260-E368E3E65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03813-51C1-DFE6-2A7C-3EB4E2F3D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BD6C-BCCB-5338-CF13-E24E608D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E8F8B-9699-46EE-78B4-CFCBC406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73520-3615-11EC-CB3D-7BFD9CAD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75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64E8C-9CE1-9521-67EE-223BC093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D3147-5BD9-0A25-455D-67D78EF1B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71DBE-8680-22DB-E176-62F076108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8F95B-3095-43E7-A3E2-166FE7213C06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1A04B-10D5-15E1-EF5A-58AC35AE9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11903-D16A-EBF7-C302-D7AD0DB87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28AA6-3DA3-4E68-A6BF-6DF3449F9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955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C4FE2F-0EF5-E69E-7BED-C7F57DDCD6EC}"/>
              </a:ext>
            </a:extLst>
          </p:cNvPr>
          <p:cNvSpPr/>
          <p:nvPr/>
        </p:nvSpPr>
        <p:spPr>
          <a:xfrm>
            <a:off x="457460" y="2755097"/>
            <a:ext cx="10783695" cy="1347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Project Member Details:    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ASUTOSH TRIPATHY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MANDELA SATISH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SUDHANSHU DAS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927B7-7FC0-B03C-B52B-9DF9B0ECC9FA}"/>
              </a:ext>
            </a:extLst>
          </p:cNvPr>
          <p:cNvSpPr/>
          <p:nvPr/>
        </p:nvSpPr>
        <p:spPr>
          <a:xfrm>
            <a:off x="483223" y="4236000"/>
            <a:ext cx="11225554" cy="1978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 T. RAJALAKSHMI 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ASSOCIATE PROFESSOR, DEPT OF ECE, SRMIST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D878D1-BD9F-802E-BE63-A870AA8E8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8598" y="991685"/>
            <a:ext cx="11225554" cy="1404527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Novel Vision Transformer Based Deep Learning Model to Predict Chronic Kidney Disease</a:t>
            </a:r>
          </a:p>
        </p:txBody>
      </p:sp>
    </p:spTree>
    <p:extLst>
      <p:ext uri="{BB962C8B-B14F-4D97-AF65-F5344CB8AC3E}">
        <p14:creationId xmlns:p14="http://schemas.microsoft.com/office/powerpoint/2010/main" val="1799886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49A3-136A-4FD3-985C-DAA06ACB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5FCBA4F-13C9-4FAB-90CB-81DDA4E2E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601548"/>
              </p:ext>
            </p:extLst>
          </p:nvPr>
        </p:nvGraphicFramePr>
        <p:xfrm>
          <a:off x="2032000" y="1446126"/>
          <a:ext cx="8128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9314617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17924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Page.No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682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Introduction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Objective of the Project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98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Problem Statement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717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Literature review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310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Novelty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09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Design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99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Results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811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Engineering standards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727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Realistic Constraints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661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Software and Hardware utilized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0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References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967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759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F76D-02D1-141E-17C7-0614B093C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05AD2-6124-BFD0-9AB0-8C5AA0A4F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603"/>
            <a:ext cx="10515600" cy="555171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Kidney Disease (CKD) is a progressive condition where the kidneys lose their ability to filter waste and fluids, impacting around 753 million people globally and causing 1.2 million deaths as of 2017.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CKD is classified into three main types: cysts, tumors, and stones. Each type presents differently and requires specific diagnostic and treatment approaches.  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Kidney cysts are fluid-filled sacs usually harmless; kidney tumors are abnormal cell growths that can be benign or malignant; and kidney stones are solid crystalline formations caused by the accumulation of substances like minerals, acids, and salts. 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3655D1-9A0E-4BEA-B8DD-BD38EC220E29}"/>
              </a:ext>
            </a:extLst>
          </p:cNvPr>
          <p:cNvSpPr txBox="1">
            <a:spLocks/>
          </p:cNvSpPr>
          <p:nvPr/>
        </p:nvSpPr>
        <p:spPr>
          <a:xfrm>
            <a:off x="722791" y="1180203"/>
            <a:ext cx="10515600" cy="48431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07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C55F5-12E4-3548-6697-0C08ED69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0F2B-DF9D-1FE8-A13F-5E264E9D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/>
          <a:lstStyle/>
          <a:p>
            <a:pPr algn="ctr"/>
            <a:r>
              <a:rPr lang="en-US" sz="4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 of the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B7D1B-6D58-DA93-3D51-640CC126A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10515600" cy="5551713"/>
          </a:xfrm>
        </p:spPr>
        <p:txBody>
          <a:bodyPr>
            <a:noAutofit/>
          </a:bodyPr>
          <a:lstStyle/>
          <a:p>
            <a:endParaRPr lang="en-US" sz="2700" dirty="0"/>
          </a:p>
          <a:p>
            <a:endParaRPr lang="en-US" sz="2700" dirty="0"/>
          </a:p>
          <a:p>
            <a:pPr marL="0" indent="0">
              <a:buNone/>
            </a:pPr>
            <a:endParaRPr lang="en-IN" sz="27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E616DF6-6E8E-C4B4-176A-DBDDD0BE817E}"/>
              </a:ext>
            </a:extLst>
          </p:cNvPr>
          <p:cNvSpPr txBox="1">
            <a:spLocks/>
          </p:cNvSpPr>
          <p:nvPr/>
        </p:nvSpPr>
        <p:spPr>
          <a:xfrm>
            <a:off x="688924" y="1692446"/>
            <a:ext cx="10515600" cy="48431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highly accurate CKD prediction model that compares the performance of machine learning and deep learning methods to identify the most effective approach.</a:t>
            </a:r>
          </a:p>
        </p:txBody>
      </p:sp>
    </p:spTree>
    <p:extLst>
      <p:ext uri="{BB962C8B-B14F-4D97-AF65-F5344CB8AC3E}">
        <p14:creationId xmlns:p14="http://schemas.microsoft.com/office/powerpoint/2010/main" val="118752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800FF-3138-A553-4993-BAC785A5C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4500-DC30-B85C-E887-0661068A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/>
          <a:lstStyle/>
          <a:p>
            <a:pPr algn="ctr"/>
            <a:r>
              <a:rPr lang="en-IN" sz="4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6679-6C96-AA54-AFCA-A1AB388CD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10515600" cy="5551713"/>
          </a:xfrm>
        </p:spPr>
        <p:txBody>
          <a:bodyPr>
            <a:noAutofit/>
          </a:bodyPr>
          <a:lstStyle/>
          <a:p>
            <a:endParaRPr lang="en-US" sz="2700" dirty="0"/>
          </a:p>
          <a:p>
            <a:endParaRPr lang="en-US" sz="2700" dirty="0"/>
          </a:p>
          <a:p>
            <a:pPr marL="0" indent="0">
              <a:buNone/>
            </a:pPr>
            <a:endParaRPr lang="en-IN" sz="27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F7823F-E21F-0D90-CF18-B554DF579685}"/>
              </a:ext>
            </a:extLst>
          </p:cNvPr>
          <p:cNvSpPr txBox="1">
            <a:spLocks/>
          </p:cNvSpPr>
          <p:nvPr/>
        </p:nvSpPr>
        <p:spPr>
          <a:xfrm>
            <a:off x="722791" y="1180203"/>
            <a:ext cx="10515600" cy="48431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utilizes Machine Learning (ML) and Deep Learning (DL) techniques that offer a powerful solution to predict CKD at early stages, improving patient outcomes.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could provide clinicians with accurate, data-driven insights that support effective decision-making.</a:t>
            </a:r>
          </a:p>
          <a:p>
            <a:pPr marL="2171700" lvl="4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038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7A08-7EEE-9508-8BCC-FE29C43D6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01" y="-4147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3ADC6DA-2321-80D2-B6E6-1382A4D66D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937558"/>
              </p:ext>
            </p:extLst>
          </p:nvPr>
        </p:nvGraphicFramePr>
        <p:xfrm>
          <a:off x="838200" y="1021537"/>
          <a:ext cx="1051559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536">
                  <a:extLst>
                    <a:ext uri="{9D8B030D-6E8A-4147-A177-3AD203B41FA5}">
                      <a16:colId xmlns:a16="http://schemas.microsoft.com/office/drawing/2014/main" val="3738337437"/>
                    </a:ext>
                  </a:extLst>
                </a:gridCol>
                <a:gridCol w="3428704">
                  <a:extLst>
                    <a:ext uri="{9D8B030D-6E8A-4147-A177-3AD203B41FA5}">
                      <a16:colId xmlns:a16="http://schemas.microsoft.com/office/drawing/2014/main" val="1613143239"/>
                    </a:ext>
                  </a:extLst>
                </a:gridCol>
                <a:gridCol w="1640444">
                  <a:extLst>
                    <a:ext uri="{9D8B030D-6E8A-4147-A177-3AD203B41FA5}">
                      <a16:colId xmlns:a16="http://schemas.microsoft.com/office/drawing/2014/main" val="2894236051"/>
                    </a:ext>
                  </a:extLst>
                </a:gridCol>
                <a:gridCol w="1603712">
                  <a:extLst>
                    <a:ext uri="{9D8B030D-6E8A-4147-A177-3AD203B41FA5}">
                      <a16:colId xmlns:a16="http://schemas.microsoft.com/office/drawing/2014/main" val="1928107939"/>
                    </a:ext>
                  </a:extLst>
                </a:gridCol>
                <a:gridCol w="3065203">
                  <a:extLst>
                    <a:ext uri="{9D8B030D-6E8A-4147-A177-3AD203B41FA5}">
                      <a16:colId xmlns:a16="http://schemas.microsoft.com/office/drawing/2014/main" val="3443540812"/>
                    </a:ext>
                  </a:extLst>
                </a:gridCol>
              </a:tblGrid>
              <a:tr h="31466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006497"/>
                  </a:ext>
                </a:extLst>
              </a:tr>
              <a:tr h="214608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Artificial intelligence in nephrology: detecting chronic kidney disease using neural network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Hridoy, Md. Farhan Rakib</a:t>
                      </a:r>
                    </a:p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Asif,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Ahnaf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Mahmud,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Mashruf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Rahman, Rashad</a:t>
                      </a:r>
                    </a:p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Siraj, Md Sahin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Brac University, Institutional Repository,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evaluated several pre-trained models, including VGG16, ResNet50, and EfficientNetB0, to assess the model's effectiveness in CKD diagnosis and classification with a final validation accuracy of 91.79%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25085"/>
                  </a:ext>
                </a:extLst>
              </a:tr>
              <a:tr h="243867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Biomedical Dataset Analysis on Predictive Modeling of Chronic Kidney Disease Using Machine Learning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Jeyalakshmi, F. Vincy Lloyd, K. Subbulakshmi, G. Vinudevi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Optimizing Intelligent Systems for Cross-Industry Application,</a:t>
                      </a:r>
                    </a:p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proposes a Random Forest-based system for early CKD detection, achieving 94% accuracy and surpassing traditional methods. However, its effectiveness may be limited by the need for large, high-quality training datasets, which aren't always available in clinical settings.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791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01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97D07-6257-EC57-46EE-10B13E32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6944F-BE0F-59E0-E558-C962C403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099" y="-4147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2382B8B-BF49-2D1B-521D-85CC13E693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200027"/>
              </p:ext>
            </p:extLst>
          </p:nvPr>
        </p:nvGraphicFramePr>
        <p:xfrm>
          <a:off x="918099" y="931003"/>
          <a:ext cx="10515600" cy="5287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536">
                  <a:extLst>
                    <a:ext uri="{9D8B030D-6E8A-4147-A177-3AD203B41FA5}">
                      <a16:colId xmlns:a16="http://schemas.microsoft.com/office/drawing/2014/main" val="3738337437"/>
                    </a:ext>
                  </a:extLst>
                </a:gridCol>
                <a:gridCol w="3428704">
                  <a:extLst>
                    <a:ext uri="{9D8B030D-6E8A-4147-A177-3AD203B41FA5}">
                      <a16:colId xmlns:a16="http://schemas.microsoft.com/office/drawing/2014/main" val="1613143239"/>
                    </a:ext>
                  </a:extLst>
                </a:gridCol>
                <a:gridCol w="1640445">
                  <a:extLst>
                    <a:ext uri="{9D8B030D-6E8A-4147-A177-3AD203B41FA5}">
                      <a16:colId xmlns:a16="http://schemas.microsoft.com/office/drawing/2014/main" val="2894236051"/>
                    </a:ext>
                  </a:extLst>
                </a:gridCol>
                <a:gridCol w="1603712">
                  <a:extLst>
                    <a:ext uri="{9D8B030D-6E8A-4147-A177-3AD203B41FA5}">
                      <a16:colId xmlns:a16="http://schemas.microsoft.com/office/drawing/2014/main" val="1928107939"/>
                    </a:ext>
                  </a:extLst>
                </a:gridCol>
                <a:gridCol w="3065203">
                  <a:extLst>
                    <a:ext uri="{9D8B030D-6E8A-4147-A177-3AD203B41FA5}">
                      <a16:colId xmlns:a16="http://schemas.microsoft.com/office/drawing/2014/main" val="3443540812"/>
                    </a:ext>
                  </a:extLst>
                </a:gridCol>
              </a:tblGrid>
              <a:tr h="26850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006497"/>
                  </a:ext>
                </a:extLst>
              </a:tr>
              <a:tr h="147676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Prediction of metabolic syndrome and its associated risk factors in patients with chronic kidney disease using machine learning techniques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Jalila Andréa Sampaio Bittencourt,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Carlos Magno Sousa Junior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Brazilian Journal of Nephrology,</a:t>
                      </a:r>
                    </a:p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 of 196 adults evaluated, 12.24% had CKD, and 45.8% of them also had MS. The KNN algorithm achieved 79% accuracy and sensitivity, with 80% specificity (AUC = 0.79) for MS screening.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25085"/>
                  </a:ext>
                </a:extLst>
              </a:tr>
              <a:tr h="290971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Early detection of chronic kidney disease using data mining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Suresh Babu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Satukumati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Nirupama Bhat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Advanced Intelligence Paradigms</a:t>
                      </a:r>
                    </a:p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Vol. 28, No. 1-2,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uses a fuzzy neural algorithm to predict CKD with 84% accuracy. However, its complexity in training and interpretation, especially with large datasets, is a major limitation.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55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332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BC72-9316-94BC-AADC-FD1CD954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3A4D-9612-822D-31A0-5A0433E08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A3FF441-6970-A294-8EC0-B0DB5F6B5A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800170"/>
              </p:ext>
            </p:extLst>
          </p:nvPr>
        </p:nvGraphicFramePr>
        <p:xfrm>
          <a:off x="918099" y="1284088"/>
          <a:ext cx="10515600" cy="4598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536">
                  <a:extLst>
                    <a:ext uri="{9D8B030D-6E8A-4147-A177-3AD203B41FA5}">
                      <a16:colId xmlns:a16="http://schemas.microsoft.com/office/drawing/2014/main" val="3738337437"/>
                    </a:ext>
                  </a:extLst>
                </a:gridCol>
                <a:gridCol w="2228295">
                  <a:extLst>
                    <a:ext uri="{9D8B030D-6E8A-4147-A177-3AD203B41FA5}">
                      <a16:colId xmlns:a16="http://schemas.microsoft.com/office/drawing/2014/main" val="1613143239"/>
                    </a:ext>
                  </a:extLst>
                </a:gridCol>
                <a:gridCol w="1961965">
                  <a:extLst>
                    <a:ext uri="{9D8B030D-6E8A-4147-A177-3AD203B41FA5}">
                      <a16:colId xmlns:a16="http://schemas.microsoft.com/office/drawing/2014/main" val="2894236051"/>
                    </a:ext>
                  </a:extLst>
                </a:gridCol>
                <a:gridCol w="1908699">
                  <a:extLst>
                    <a:ext uri="{9D8B030D-6E8A-4147-A177-3AD203B41FA5}">
                      <a16:colId xmlns:a16="http://schemas.microsoft.com/office/drawing/2014/main" val="1928107939"/>
                    </a:ext>
                  </a:extLst>
                </a:gridCol>
                <a:gridCol w="3639105">
                  <a:extLst>
                    <a:ext uri="{9D8B030D-6E8A-4147-A177-3AD203B41FA5}">
                      <a16:colId xmlns:a16="http://schemas.microsoft.com/office/drawing/2014/main" val="3443540812"/>
                    </a:ext>
                  </a:extLst>
                </a:gridCol>
              </a:tblGrid>
              <a:tr h="273357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006497"/>
                  </a:ext>
                </a:extLst>
              </a:tr>
              <a:tr h="2116394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Predictive Modelling of Chronic Kidney Disease Using Gaussian Naive Bayes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Muthia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Febriana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Azizah,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Arimbi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Tiara Paramitha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Artificial Intelligence in Medical Issues,</a:t>
                      </a:r>
                    </a:p>
                    <a:p>
                      <a:pPr algn="jus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Vol.2 No.2,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applies Gaussian Naive Bayes for CKD prediction with 89.93% accuracy. A key drawback is its assumption of feature independence, which can reduce accuracy when features are correlated.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25085"/>
                  </a:ext>
                </a:extLst>
              </a:tr>
              <a:tr h="2116394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 the diagnosis of chronic kidney disease using a machine learning-based interface with explainable artificial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Gangani</a:t>
                      </a:r>
                      <a:r>
                        <a:rPr lang="en-US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Dharmarathne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Madhusha</a:t>
                      </a:r>
                      <a:r>
                        <a:rPr lang="en-US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Bogahawaththa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Marion McAfee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Upaka</a:t>
                      </a:r>
                      <a:r>
                        <a:rPr lang="en-US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Rathnayake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D.P.P. Meddage 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Systems with Applications</a:t>
                      </a:r>
                    </a:p>
                    <a:p>
                      <a:pPr algn="jus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 22, June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uses XGB with SHAP and PDP for explainable CKD prediction, achieving 92.3% accuracy. However, SHAP and PDP can be slow, may oversimplify interactions, and face challenges in complex models.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190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661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C3F6B-093D-9236-B9F9-237CF52E1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E874-A79B-4778-F848-D9E8050AF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181B31A-3E03-5BC4-D637-CCF2C558C1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410115"/>
              </p:ext>
            </p:extLst>
          </p:nvPr>
        </p:nvGraphicFramePr>
        <p:xfrm>
          <a:off x="945260" y="1865054"/>
          <a:ext cx="10515600" cy="3127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536">
                  <a:extLst>
                    <a:ext uri="{9D8B030D-6E8A-4147-A177-3AD203B41FA5}">
                      <a16:colId xmlns:a16="http://schemas.microsoft.com/office/drawing/2014/main" val="3738337437"/>
                    </a:ext>
                  </a:extLst>
                </a:gridCol>
                <a:gridCol w="2228295">
                  <a:extLst>
                    <a:ext uri="{9D8B030D-6E8A-4147-A177-3AD203B41FA5}">
                      <a16:colId xmlns:a16="http://schemas.microsoft.com/office/drawing/2014/main" val="1613143239"/>
                    </a:ext>
                  </a:extLst>
                </a:gridCol>
                <a:gridCol w="1426668">
                  <a:extLst>
                    <a:ext uri="{9D8B030D-6E8A-4147-A177-3AD203B41FA5}">
                      <a16:colId xmlns:a16="http://schemas.microsoft.com/office/drawing/2014/main" val="2894236051"/>
                    </a:ext>
                  </a:extLst>
                </a:gridCol>
                <a:gridCol w="2035623">
                  <a:extLst>
                    <a:ext uri="{9D8B030D-6E8A-4147-A177-3AD203B41FA5}">
                      <a16:colId xmlns:a16="http://schemas.microsoft.com/office/drawing/2014/main" val="1928107939"/>
                    </a:ext>
                  </a:extLst>
                </a:gridCol>
                <a:gridCol w="4047478">
                  <a:extLst>
                    <a:ext uri="{9D8B030D-6E8A-4147-A177-3AD203B41FA5}">
                      <a16:colId xmlns:a16="http://schemas.microsoft.com/office/drawing/2014/main" val="3443540812"/>
                    </a:ext>
                  </a:extLst>
                </a:gridCol>
              </a:tblGrid>
              <a:tr h="40174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006497"/>
                  </a:ext>
                </a:extLst>
              </a:tr>
              <a:tr h="248781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Prediction of Chronic Kidney Disease Using Machine Learning Classification Techniques and 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Vidhya, S.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Balachandar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Disruptive Technologies for Sustainable Development,</a:t>
                      </a:r>
                    </a:p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i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Edition,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work done focuses on using machine learning techniques, specifically Support Vector Machines (SVM) and Decision Trees, to predict the presence and severity of Chronic Kidney Disease (CKD) based on a dataset containing 400 patient records with 14 attributes they achieved an accuracy of 91.5%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25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787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9E8B-84B9-4DAD-19EE-5FB7ABE5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8EA6-33C8-56EE-8B44-8A48699E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B5B6-BCE3-7837-4C90-3E9299B4E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53781"/>
          </a:xfrm>
        </p:spPr>
        <p:txBody>
          <a:bodyPr>
            <a:normAutofit/>
          </a:bodyPr>
          <a:lstStyle/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the hierarchical and global attention mechanisms of MaxViT (Multi-axial Vision Transformer) to capture intricate spatial features in kidney CT scan images.  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model performance through meticulous hyperparameter tuning for improved feature extraction and learning.  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more precise classification outcomes compared to conventional CNN and transformer-based models.  </a:t>
            </a:r>
          </a:p>
        </p:txBody>
      </p:sp>
    </p:spTree>
    <p:extLst>
      <p:ext uri="{BB962C8B-B14F-4D97-AF65-F5344CB8AC3E}">
        <p14:creationId xmlns:p14="http://schemas.microsoft.com/office/powerpoint/2010/main" val="3820159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299A6EF-0478-49C3-B3CE-D6A75D630DD5}"/>
              </a:ext>
            </a:extLst>
          </p:cNvPr>
          <p:cNvSpPr/>
          <p:nvPr/>
        </p:nvSpPr>
        <p:spPr>
          <a:xfrm>
            <a:off x="10233188" y="1012764"/>
            <a:ext cx="1838286" cy="5507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99E95-93B4-2058-3C02-85BEE8D60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702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0F560-D942-4734-8A7E-996C9367DCB3}"/>
              </a:ext>
            </a:extLst>
          </p:cNvPr>
          <p:cNvSpPr/>
          <p:nvPr/>
        </p:nvSpPr>
        <p:spPr>
          <a:xfrm>
            <a:off x="261660" y="1294432"/>
            <a:ext cx="2233926" cy="160029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25287A-1BA1-4504-9726-13705C61E5C1}"/>
              </a:ext>
            </a:extLst>
          </p:cNvPr>
          <p:cNvSpPr/>
          <p:nvPr/>
        </p:nvSpPr>
        <p:spPr>
          <a:xfrm>
            <a:off x="499284" y="1510458"/>
            <a:ext cx="1832046" cy="2993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Acquisition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DCAA21-9F21-4719-9B91-42F941005B65}"/>
              </a:ext>
            </a:extLst>
          </p:cNvPr>
          <p:cNvSpPr/>
          <p:nvPr/>
        </p:nvSpPr>
        <p:spPr>
          <a:xfrm>
            <a:off x="640655" y="1957213"/>
            <a:ext cx="1499975" cy="77951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CT- Kidney </a:t>
            </a:r>
          </a:p>
          <a:p>
            <a:pPr algn="ctr"/>
            <a:r>
              <a:rPr lang="en-US" dirty="0"/>
              <a:t>Dataset</a:t>
            </a:r>
          </a:p>
          <a:p>
            <a:pPr algn="ctr"/>
            <a:r>
              <a:rPr lang="en-US" dirty="0"/>
              <a:t>(12,446)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B6E794-D663-415D-ADEE-CFBCC6F5260E}"/>
              </a:ext>
            </a:extLst>
          </p:cNvPr>
          <p:cNvSpPr/>
          <p:nvPr/>
        </p:nvSpPr>
        <p:spPr>
          <a:xfrm>
            <a:off x="3460796" y="1044438"/>
            <a:ext cx="2534653" cy="20182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A65B9A-199C-473B-84A2-66D3C777330D}"/>
              </a:ext>
            </a:extLst>
          </p:cNvPr>
          <p:cNvSpPr/>
          <p:nvPr/>
        </p:nvSpPr>
        <p:spPr>
          <a:xfrm>
            <a:off x="3698420" y="1260464"/>
            <a:ext cx="1947111" cy="5435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Pre-Processing</a:t>
            </a:r>
            <a:endParaRPr lang="en-IN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93F98FA-1208-45B5-9893-1B7A227253CF}"/>
              </a:ext>
            </a:extLst>
          </p:cNvPr>
          <p:cNvSpPr/>
          <p:nvPr/>
        </p:nvSpPr>
        <p:spPr>
          <a:xfrm>
            <a:off x="3792904" y="1917319"/>
            <a:ext cx="1870378" cy="103815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Image resizing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Applying median filter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34BE0F-45DD-4E45-BA48-565317C11080}"/>
              </a:ext>
            </a:extLst>
          </p:cNvPr>
          <p:cNvSpPr/>
          <p:nvPr/>
        </p:nvSpPr>
        <p:spPr>
          <a:xfrm>
            <a:off x="7017239" y="929194"/>
            <a:ext cx="2419805" cy="240605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776CEA-7A95-470D-BB2C-7EFD6D0AACC4}"/>
              </a:ext>
            </a:extLst>
          </p:cNvPr>
          <p:cNvSpPr/>
          <p:nvPr/>
        </p:nvSpPr>
        <p:spPr>
          <a:xfrm>
            <a:off x="7298568" y="1113408"/>
            <a:ext cx="1802370" cy="551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Augmentation</a:t>
            </a:r>
            <a:endParaRPr lang="en-I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C7D8810-E494-44E5-9B7C-44E966F639AB}"/>
              </a:ext>
            </a:extLst>
          </p:cNvPr>
          <p:cNvSpPr/>
          <p:nvPr/>
        </p:nvSpPr>
        <p:spPr>
          <a:xfrm>
            <a:off x="7325955" y="1844977"/>
            <a:ext cx="1802371" cy="141753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Rotation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Vertical flip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Reflection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9DDEB1-4E90-4A1A-8E1F-19CB2AD85D57}"/>
              </a:ext>
            </a:extLst>
          </p:cNvPr>
          <p:cNvSpPr/>
          <p:nvPr/>
        </p:nvSpPr>
        <p:spPr>
          <a:xfrm>
            <a:off x="6968592" y="3784775"/>
            <a:ext cx="2345570" cy="24362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D511AB-62A6-457C-BC75-3159305C5D45}"/>
              </a:ext>
            </a:extLst>
          </p:cNvPr>
          <p:cNvSpPr/>
          <p:nvPr/>
        </p:nvSpPr>
        <p:spPr>
          <a:xfrm>
            <a:off x="7179051" y="4102885"/>
            <a:ext cx="1870379" cy="575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Validation</a:t>
            </a:r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50B7E0-ACAA-49C8-9FAC-A05C38AEF75A}"/>
              </a:ext>
            </a:extLst>
          </p:cNvPr>
          <p:cNvSpPr/>
          <p:nvPr/>
        </p:nvSpPr>
        <p:spPr>
          <a:xfrm>
            <a:off x="7283074" y="4905389"/>
            <a:ext cx="1683084" cy="119675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80% Training</a:t>
            </a:r>
          </a:p>
          <a:p>
            <a:pPr algn="ctr"/>
            <a:r>
              <a:rPr lang="en-US" dirty="0"/>
              <a:t>10% Testing</a:t>
            </a:r>
          </a:p>
          <a:p>
            <a:pPr algn="ctr"/>
            <a:r>
              <a:rPr lang="en-US" dirty="0"/>
              <a:t>10% Validation</a:t>
            </a:r>
            <a:endParaRPr lang="en-IN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9241DA3-996A-45D9-82C7-716C2C794B86}"/>
              </a:ext>
            </a:extLst>
          </p:cNvPr>
          <p:cNvSpPr/>
          <p:nvPr/>
        </p:nvSpPr>
        <p:spPr>
          <a:xfrm>
            <a:off x="2626368" y="1809795"/>
            <a:ext cx="753642" cy="52328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F838035-DB75-4E34-B217-CF78A3E20371}"/>
              </a:ext>
            </a:extLst>
          </p:cNvPr>
          <p:cNvSpPr/>
          <p:nvPr/>
        </p:nvSpPr>
        <p:spPr>
          <a:xfrm>
            <a:off x="6174177" y="1791902"/>
            <a:ext cx="724084" cy="52328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98FCFB-3D41-497D-8B78-894B6B42E5A1}"/>
              </a:ext>
            </a:extLst>
          </p:cNvPr>
          <p:cNvSpPr/>
          <p:nvPr/>
        </p:nvSpPr>
        <p:spPr>
          <a:xfrm>
            <a:off x="287009" y="3548958"/>
            <a:ext cx="2345570" cy="31896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26BC1D-51D5-4127-8E4B-725E4D7A2938}"/>
              </a:ext>
            </a:extLst>
          </p:cNvPr>
          <p:cNvSpPr/>
          <p:nvPr/>
        </p:nvSpPr>
        <p:spPr>
          <a:xfrm>
            <a:off x="482252" y="3695556"/>
            <a:ext cx="1923605" cy="360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Model Evaluation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21027D7-EFAB-4144-B04C-C66717390B98}"/>
              </a:ext>
            </a:extLst>
          </p:cNvPr>
          <p:cNvSpPr/>
          <p:nvPr/>
        </p:nvSpPr>
        <p:spPr>
          <a:xfrm>
            <a:off x="482252" y="4240708"/>
            <a:ext cx="1933765" cy="241722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Evaluating the performance: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Sensitivity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Precision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Accuracy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F1-score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AUC In ROC curve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724AA927-903E-49D8-BBEB-E100EB314B55}"/>
              </a:ext>
            </a:extLst>
          </p:cNvPr>
          <p:cNvSpPr/>
          <p:nvPr/>
        </p:nvSpPr>
        <p:spPr>
          <a:xfrm>
            <a:off x="6124480" y="4643747"/>
            <a:ext cx="684804" cy="523283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FF57B2AC-9B65-494A-A470-6EB4C60F3545}"/>
              </a:ext>
            </a:extLst>
          </p:cNvPr>
          <p:cNvSpPr/>
          <p:nvPr/>
        </p:nvSpPr>
        <p:spPr>
          <a:xfrm>
            <a:off x="9503123" y="4643747"/>
            <a:ext cx="724085" cy="523283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A8DA3F-DEE7-4DB2-98A9-F998D3C03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16" y="4570910"/>
            <a:ext cx="1525650" cy="15256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7D9B42-1273-4512-9042-2E3E49581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239" y="2894726"/>
            <a:ext cx="1518183" cy="15181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737695C-16D0-4D2F-9D1A-C75658FFF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16" y="1218542"/>
            <a:ext cx="1518183" cy="1518183"/>
          </a:xfrm>
          <a:prstGeom prst="rect">
            <a:avLst/>
          </a:prstGeom>
        </p:spPr>
      </p:pic>
      <p:sp>
        <p:nvSpPr>
          <p:cNvPr id="37" name="Arrow: Right 36">
            <a:extLst>
              <a:ext uri="{FF2B5EF4-FFF2-40B4-BE49-F238E27FC236}">
                <a16:creationId xmlns:a16="http://schemas.microsoft.com/office/drawing/2014/main" id="{C9BB80EF-F373-46F7-BCB9-3E0A69CE6795}"/>
              </a:ext>
            </a:extLst>
          </p:cNvPr>
          <p:cNvSpPr/>
          <p:nvPr/>
        </p:nvSpPr>
        <p:spPr>
          <a:xfrm>
            <a:off x="9549171" y="1809794"/>
            <a:ext cx="661125" cy="50539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FEAEAD-270E-4E86-B004-3ECBBF468FC4}"/>
              </a:ext>
            </a:extLst>
          </p:cNvPr>
          <p:cNvSpPr/>
          <p:nvPr/>
        </p:nvSpPr>
        <p:spPr>
          <a:xfrm>
            <a:off x="3460796" y="3744479"/>
            <a:ext cx="2635204" cy="259751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EA4F6D-2E5B-4CE2-9097-EC199D08EB5F}"/>
              </a:ext>
            </a:extLst>
          </p:cNvPr>
          <p:cNvSpPr/>
          <p:nvPr/>
        </p:nvSpPr>
        <p:spPr>
          <a:xfrm>
            <a:off x="3824977" y="3947394"/>
            <a:ext cx="1870379" cy="575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Classification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8C53360-0EA5-464A-A749-B4A6ADAAF023}"/>
              </a:ext>
            </a:extLst>
          </p:cNvPr>
          <p:cNvSpPr/>
          <p:nvPr/>
        </p:nvSpPr>
        <p:spPr>
          <a:xfrm>
            <a:off x="3610296" y="4647530"/>
            <a:ext cx="2325223" cy="157349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Resnet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Resnet with 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Vision Transformer</a:t>
            </a:r>
          </a:p>
        </p:txBody>
      </p:sp>
      <p:sp>
        <p:nvSpPr>
          <p:cNvPr id="41" name="Arrow: Left 40">
            <a:extLst>
              <a:ext uri="{FF2B5EF4-FFF2-40B4-BE49-F238E27FC236}">
                <a16:creationId xmlns:a16="http://schemas.microsoft.com/office/drawing/2014/main" id="{440C6E5D-C0A4-449E-83B0-467264E91B86}"/>
              </a:ext>
            </a:extLst>
          </p:cNvPr>
          <p:cNvSpPr/>
          <p:nvPr/>
        </p:nvSpPr>
        <p:spPr>
          <a:xfrm>
            <a:off x="2691270" y="4677981"/>
            <a:ext cx="684804" cy="523283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8FBD8B-FB53-49D4-94F0-73AA5DF55BF5}"/>
              </a:ext>
            </a:extLst>
          </p:cNvPr>
          <p:cNvSpPr txBox="1"/>
          <p:nvPr/>
        </p:nvSpPr>
        <p:spPr>
          <a:xfrm>
            <a:off x="10393239" y="6133288"/>
            <a:ext cx="157584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Augmented data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821001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738D7-893D-FACC-4CFB-D71D619E2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22A3D-19B9-91F6-8C99-2586FD6A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26" y="20545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Design of ResNet50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B2944-2945-B5B0-FA17-0B5CF3CA14B5}"/>
              </a:ext>
            </a:extLst>
          </p:cNvPr>
          <p:cNvSpPr/>
          <p:nvPr/>
        </p:nvSpPr>
        <p:spPr>
          <a:xfrm>
            <a:off x="8929858" y="1259798"/>
            <a:ext cx="778158" cy="13263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6D0C82-0F67-7389-E56E-0EAC623DF742}"/>
              </a:ext>
            </a:extLst>
          </p:cNvPr>
          <p:cNvCxnSpPr/>
          <p:nvPr/>
        </p:nvCxnSpPr>
        <p:spPr>
          <a:xfrm>
            <a:off x="2636540" y="4274347"/>
            <a:ext cx="0" cy="118316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398327-F3BE-4D96-1251-D7B1D1B719B1}"/>
              </a:ext>
            </a:extLst>
          </p:cNvPr>
          <p:cNvCxnSpPr>
            <a:cxnSpLocks/>
          </p:cNvCxnSpPr>
          <p:nvPr/>
        </p:nvCxnSpPr>
        <p:spPr>
          <a:xfrm>
            <a:off x="2228156" y="4674397"/>
            <a:ext cx="11160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8A6A1D-3F52-A96A-2DF5-32579952D119}"/>
              </a:ext>
            </a:extLst>
          </p:cNvPr>
          <p:cNvCxnSpPr>
            <a:cxnSpLocks/>
          </p:cNvCxnSpPr>
          <p:nvPr/>
        </p:nvCxnSpPr>
        <p:spPr>
          <a:xfrm>
            <a:off x="2219822" y="5138740"/>
            <a:ext cx="11234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>
            <a:extLst>
              <a:ext uri="{FF2B5EF4-FFF2-40B4-BE49-F238E27FC236}">
                <a16:creationId xmlns:a16="http://schemas.microsoft.com/office/drawing/2014/main" id="{B8ED6FE4-896C-4DCE-8903-5C51810ADF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" t="15748" r="89551" b="57771"/>
          <a:stretch/>
        </p:blipFill>
        <p:spPr bwMode="auto">
          <a:xfrm>
            <a:off x="200126" y="2385268"/>
            <a:ext cx="743548" cy="1019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3EFA4C-6245-4DBA-8343-9B2F0EEA7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4" y="2283668"/>
            <a:ext cx="1238023" cy="123802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7D4A23-7919-4D38-A8EC-81639DAF3F56}"/>
              </a:ext>
            </a:extLst>
          </p:cNvPr>
          <p:cNvCxnSpPr/>
          <p:nvPr/>
        </p:nvCxnSpPr>
        <p:spPr>
          <a:xfrm>
            <a:off x="1368726" y="2358053"/>
            <a:ext cx="0" cy="118316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3FE0B1-0177-4A4E-B51A-D28170EA0F11}"/>
              </a:ext>
            </a:extLst>
          </p:cNvPr>
          <p:cNvCxnSpPr/>
          <p:nvPr/>
        </p:nvCxnSpPr>
        <p:spPr>
          <a:xfrm>
            <a:off x="1794970" y="2358053"/>
            <a:ext cx="0" cy="118316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57243D-DF0D-4220-98DE-02E60630D58C}"/>
              </a:ext>
            </a:extLst>
          </p:cNvPr>
          <p:cNvCxnSpPr>
            <a:cxnSpLocks/>
          </p:cNvCxnSpPr>
          <p:nvPr/>
        </p:nvCxnSpPr>
        <p:spPr>
          <a:xfrm>
            <a:off x="960342" y="2758103"/>
            <a:ext cx="11160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59E67C-1ECC-4884-A22D-B69B824B858B}"/>
              </a:ext>
            </a:extLst>
          </p:cNvPr>
          <p:cNvCxnSpPr>
            <a:cxnSpLocks/>
          </p:cNvCxnSpPr>
          <p:nvPr/>
        </p:nvCxnSpPr>
        <p:spPr>
          <a:xfrm>
            <a:off x="952008" y="3222446"/>
            <a:ext cx="11234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EC0299D-CAE3-4E9E-898E-7315BFEC5F26}"/>
              </a:ext>
            </a:extLst>
          </p:cNvPr>
          <p:cNvSpPr txBox="1"/>
          <p:nvPr/>
        </p:nvSpPr>
        <p:spPr>
          <a:xfrm>
            <a:off x="4736666" y="4865928"/>
            <a:ext cx="3415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 Architecture of Resnet50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D76C871-F1AB-4250-A682-ED9446C4AA8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697" y="1719260"/>
            <a:ext cx="8525695" cy="2894030"/>
          </a:xfrm>
          <a:prstGeom prst="rect">
            <a:avLst/>
          </a:prstGeom>
          <a:noFill/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3FF5B3B-D4AD-4D42-ACC1-7A404B0279E0}"/>
              </a:ext>
            </a:extLst>
          </p:cNvPr>
          <p:cNvSpPr/>
          <p:nvPr/>
        </p:nvSpPr>
        <p:spPr>
          <a:xfrm>
            <a:off x="10707392" y="2283668"/>
            <a:ext cx="978499" cy="1420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Normal</a:t>
            </a:r>
          </a:p>
          <a:p>
            <a:pPr algn="ctr"/>
            <a:r>
              <a:rPr lang="en-US" b="1" dirty="0"/>
              <a:t>Cyst</a:t>
            </a:r>
          </a:p>
          <a:p>
            <a:pPr algn="ctr"/>
            <a:r>
              <a:rPr lang="en-US" b="1" dirty="0"/>
              <a:t>Tumor</a:t>
            </a:r>
          </a:p>
          <a:p>
            <a:pPr algn="ctr"/>
            <a:r>
              <a:rPr lang="en-US" b="1" dirty="0"/>
              <a:t>Stone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31008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99E95-93B4-2058-3C02-85BEE8D60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449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Vision Transformer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0F75B4-F728-4AFF-BF64-B84B9C37701C}"/>
              </a:ext>
            </a:extLst>
          </p:cNvPr>
          <p:cNvSpPr/>
          <p:nvPr/>
        </p:nvSpPr>
        <p:spPr>
          <a:xfrm>
            <a:off x="8150692" y="1466964"/>
            <a:ext cx="870857" cy="1420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29507C-9B4C-45BE-AE5C-C13C0CA4D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42" y="1257389"/>
            <a:ext cx="10162315" cy="5081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136DF5D-6664-46C2-B290-85BD4B6E6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440657" y="4481513"/>
            <a:ext cx="1257301" cy="1257301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58E613-EE59-42E9-A1FD-B466F9B03A9F}"/>
              </a:ext>
            </a:extLst>
          </p:cNvPr>
          <p:cNvCxnSpPr/>
          <p:nvPr/>
        </p:nvCxnSpPr>
        <p:spPr>
          <a:xfrm>
            <a:off x="1857375" y="4481513"/>
            <a:ext cx="0" cy="12668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F2D49E-FF6B-40E6-BAE5-4CAC6FD51429}"/>
              </a:ext>
            </a:extLst>
          </p:cNvPr>
          <p:cNvCxnSpPr/>
          <p:nvPr/>
        </p:nvCxnSpPr>
        <p:spPr>
          <a:xfrm>
            <a:off x="2283619" y="4481513"/>
            <a:ext cx="0" cy="12668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483324-D963-4419-B2A9-AA000B38D66A}"/>
              </a:ext>
            </a:extLst>
          </p:cNvPr>
          <p:cNvCxnSpPr>
            <a:cxnSpLocks/>
          </p:cNvCxnSpPr>
          <p:nvPr/>
        </p:nvCxnSpPr>
        <p:spPr>
          <a:xfrm>
            <a:off x="1448991" y="4881563"/>
            <a:ext cx="12489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293BA2F-5738-4D46-9603-4351192039CC}"/>
              </a:ext>
            </a:extLst>
          </p:cNvPr>
          <p:cNvCxnSpPr>
            <a:cxnSpLocks/>
          </p:cNvCxnSpPr>
          <p:nvPr/>
        </p:nvCxnSpPr>
        <p:spPr>
          <a:xfrm>
            <a:off x="1440657" y="5345906"/>
            <a:ext cx="125730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2EF5D98D-7854-46A7-99A8-AFA0A50A5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682" y="5212172"/>
            <a:ext cx="407621" cy="40762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E100E47-0F38-4D86-BA50-D33D2EB5A7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115" y="5212993"/>
            <a:ext cx="406800" cy="406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A93E193-3575-45DD-893F-B3C08D9C7C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227" y="5212993"/>
            <a:ext cx="406800" cy="406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F6707D5-01AA-48EC-A63E-0222C11AB0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805" y="5212993"/>
            <a:ext cx="406800" cy="406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F9DDE32-F5A3-49AE-A7C9-5E1AB607BA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153" y="5212993"/>
            <a:ext cx="406800" cy="406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4FE0496-62E7-4E40-AEB2-3928A6F486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107" y="5212993"/>
            <a:ext cx="406800" cy="406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B9EC674F-BD18-4C61-9B83-FDFA9C485B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879" y="5212993"/>
            <a:ext cx="406800" cy="406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B8161CD-1FFB-4A4C-8D1E-45EDBF9E8F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960" y="5212993"/>
            <a:ext cx="406800" cy="4068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2AB5817-7E5C-45DF-83EE-7B3625671F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501" y="5212993"/>
            <a:ext cx="406800" cy="406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E76047A-5DF4-42FA-9E6D-76188F59F195}"/>
              </a:ext>
            </a:extLst>
          </p:cNvPr>
          <p:cNvSpPr/>
          <p:nvPr/>
        </p:nvSpPr>
        <p:spPr>
          <a:xfrm>
            <a:off x="1606858" y="1755775"/>
            <a:ext cx="978499" cy="1420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Normal</a:t>
            </a:r>
          </a:p>
          <a:p>
            <a:pPr algn="ctr"/>
            <a:r>
              <a:rPr lang="en-US" b="1" dirty="0"/>
              <a:t>Cyst</a:t>
            </a:r>
          </a:p>
          <a:p>
            <a:pPr algn="ctr"/>
            <a:r>
              <a:rPr lang="en-US" b="1" dirty="0"/>
              <a:t>Tumor</a:t>
            </a:r>
          </a:p>
          <a:p>
            <a:pPr algn="ctr"/>
            <a:r>
              <a:rPr lang="en-US" b="1" dirty="0"/>
              <a:t>Stone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027AF-8375-4BF4-B9D5-465AEAA3CA46}"/>
              </a:ext>
            </a:extLst>
          </p:cNvPr>
          <p:cNvSpPr txBox="1"/>
          <p:nvPr/>
        </p:nvSpPr>
        <p:spPr>
          <a:xfrm>
            <a:off x="3570019" y="6363456"/>
            <a:ext cx="5193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2. Architecture of Vision Transformer</a:t>
            </a:r>
          </a:p>
        </p:txBody>
      </p:sp>
    </p:spTree>
    <p:extLst>
      <p:ext uri="{BB962C8B-B14F-4D97-AF65-F5344CB8AC3E}">
        <p14:creationId xmlns:p14="http://schemas.microsoft.com/office/powerpoint/2010/main" val="1801741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9E8B-84B9-4DAD-19EE-5FB7ABE5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8EA6-33C8-56EE-8B44-8A48699E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for Resnet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B5B6-BCE3-7837-4C90-3E9299B4E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999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 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achieved moderate training and test accuracy, Despite its balanced precision, recall, and F1 score, the model exhibited misclassifications. </a:t>
            </a:r>
          </a:p>
          <a:p>
            <a:pPr marL="0" indent="0" algn="just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AUC=0.96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A194B-B442-41B1-8FBF-1B418B2AD473}"/>
              </a:ext>
            </a:extLst>
          </p:cNvPr>
          <p:cNvSpPr txBox="1"/>
          <p:nvPr/>
        </p:nvSpPr>
        <p:spPr>
          <a:xfrm flipH="1">
            <a:off x="299520" y="6214628"/>
            <a:ext cx="11054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Fig 3. Loss and Accuracy Graphs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Fig 4. ROC curve for Resnet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B2DD7F-BE2B-526C-7102-D74AB7FD323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5543" y="3032462"/>
            <a:ext cx="7568821" cy="32656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255474-C21B-4516-BE89-9DA921AA1D4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364" y="3067727"/>
            <a:ext cx="3742593" cy="326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17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BF7FB-0FFC-858B-274B-41C54C57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5CE9-4860-469B-B0B7-2B42D032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for Resnet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220D5D-BB58-4B45-BA9C-C3A730438D75}"/>
              </a:ext>
            </a:extLst>
          </p:cNvPr>
          <p:cNvSpPr txBox="1"/>
          <p:nvPr/>
        </p:nvSpPr>
        <p:spPr>
          <a:xfrm>
            <a:off x="1612776" y="6311963"/>
            <a:ext cx="896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5. Confusion matrix for Classification using Resnet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55801A-ABF6-4239-87CC-8ED60BD04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"/>
          <a:stretch/>
        </p:blipFill>
        <p:spPr>
          <a:xfrm>
            <a:off x="2896985" y="1002835"/>
            <a:ext cx="6654421" cy="530912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2EDE53-CE2F-4D77-AD6A-825EA4456C11}"/>
              </a:ext>
            </a:extLst>
          </p:cNvPr>
          <p:cNvSpPr txBox="1"/>
          <p:nvPr/>
        </p:nvSpPr>
        <p:spPr>
          <a:xfrm flipH="1">
            <a:off x="3748587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</a:rPr>
              <a:t>331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15AA2-8A17-4CC9-B524-FE612471E9FE}"/>
              </a:ext>
            </a:extLst>
          </p:cNvPr>
          <p:cNvSpPr txBox="1"/>
          <p:nvPr/>
        </p:nvSpPr>
        <p:spPr>
          <a:xfrm flipH="1">
            <a:off x="3748587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16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B59FB-9F80-4E65-92ED-5C98963F1398}"/>
              </a:ext>
            </a:extLst>
          </p:cNvPr>
          <p:cNvSpPr txBox="1"/>
          <p:nvPr/>
        </p:nvSpPr>
        <p:spPr>
          <a:xfrm flipH="1">
            <a:off x="3748587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2E83B0-BB38-410A-8712-9E632978497D}"/>
              </a:ext>
            </a:extLst>
          </p:cNvPr>
          <p:cNvSpPr txBox="1"/>
          <p:nvPr/>
        </p:nvSpPr>
        <p:spPr>
          <a:xfrm flipH="1">
            <a:off x="3748587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33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30D819-007E-4415-816D-F29ADF5218CF}"/>
              </a:ext>
            </a:extLst>
          </p:cNvPr>
          <p:cNvSpPr txBox="1"/>
          <p:nvPr/>
        </p:nvSpPr>
        <p:spPr>
          <a:xfrm flipH="1">
            <a:off x="4893776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BE3AAF-4DE2-490F-8506-7C2030CAD5DE}"/>
              </a:ext>
            </a:extLst>
          </p:cNvPr>
          <p:cNvSpPr txBox="1"/>
          <p:nvPr/>
        </p:nvSpPr>
        <p:spPr>
          <a:xfrm flipH="1">
            <a:off x="4943792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</a:rPr>
              <a:t> 472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EABFDD-C13B-4D59-B019-7CA2768FCE27}"/>
              </a:ext>
            </a:extLst>
          </p:cNvPr>
          <p:cNvSpPr txBox="1"/>
          <p:nvPr/>
        </p:nvSpPr>
        <p:spPr>
          <a:xfrm flipH="1">
            <a:off x="4915931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89BDEA-89CF-4494-A5B0-0FB854C489F9}"/>
              </a:ext>
            </a:extLst>
          </p:cNvPr>
          <p:cNvSpPr txBox="1"/>
          <p:nvPr/>
        </p:nvSpPr>
        <p:spPr>
          <a:xfrm flipH="1">
            <a:off x="4893776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B092B3-B0ED-40EA-AAA2-EB3312729F71}"/>
              </a:ext>
            </a:extLst>
          </p:cNvPr>
          <p:cNvSpPr txBox="1"/>
          <p:nvPr/>
        </p:nvSpPr>
        <p:spPr>
          <a:xfrm flipH="1">
            <a:off x="6245037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43A7B9-A1EB-430F-8C8A-31C530AAB4C1}"/>
              </a:ext>
            </a:extLst>
          </p:cNvPr>
          <p:cNvSpPr txBox="1"/>
          <p:nvPr/>
        </p:nvSpPr>
        <p:spPr>
          <a:xfrm flipH="1">
            <a:off x="6245037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16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12A2FE-ECFA-40D7-9326-5F31484F431A}"/>
              </a:ext>
            </a:extLst>
          </p:cNvPr>
          <p:cNvSpPr txBox="1"/>
          <p:nvPr/>
        </p:nvSpPr>
        <p:spPr>
          <a:xfrm flipH="1">
            <a:off x="6245037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82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EB0892-3030-4BBC-8FF5-2952A1BFFDC1}"/>
              </a:ext>
            </a:extLst>
          </p:cNvPr>
          <p:cNvSpPr txBox="1"/>
          <p:nvPr/>
        </p:nvSpPr>
        <p:spPr>
          <a:xfrm flipH="1">
            <a:off x="6245037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FFCF5C-E14C-4698-8D26-1EB87BFAE13B}"/>
              </a:ext>
            </a:extLst>
          </p:cNvPr>
          <p:cNvSpPr txBox="1"/>
          <p:nvPr/>
        </p:nvSpPr>
        <p:spPr>
          <a:xfrm flipH="1">
            <a:off x="7390226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6A7D90-7401-4DF5-9D49-63CDCEBF9E2D}"/>
              </a:ext>
            </a:extLst>
          </p:cNvPr>
          <p:cNvSpPr txBox="1"/>
          <p:nvPr/>
        </p:nvSpPr>
        <p:spPr>
          <a:xfrm flipH="1">
            <a:off x="7390226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5F9353-24ED-4D5B-9C2A-427B77224000}"/>
              </a:ext>
            </a:extLst>
          </p:cNvPr>
          <p:cNvSpPr txBox="1"/>
          <p:nvPr/>
        </p:nvSpPr>
        <p:spPr>
          <a:xfrm flipH="1">
            <a:off x="7390226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C47F7F-BE0F-486B-9FDB-F1EBAD191B25}"/>
              </a:ext>
            </a:extLst>
          </p:cNvPr>
          <p:cNvSpPr txBox="1"/>
          <p:nvPr/>
        </p:nvSpPr>
        <p:spPr>
          <a:xfrm flipH="1">
            <a:off x="7390226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145</a:t>
            </a:r>
          </a:p>
        </p:txBody>
      </p:sp>
    </p:spTree>
    <p:extLst>
      <p:ext uri="{BB962C8B-B14F-4D97-AF65-F5344CB8AC3E}">
        <p14:creationId xmlns:p14="http://schemas.microsoft.com/office/powerpoint/2010/main" val="4069724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9E8B-84B9-4DAD-19EE-5FB7ABE5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8EA6-33C8-56EE-8B44-8A48699E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-4951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for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 with random forest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EAE8AE-9FB1-4462-B6C4-B710DF6FF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57287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 with random forest 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ResNet with Random Forest significantly improved detection performance. </a:t>
            </a:r>
          </a:p>
          <a:p>
            <a:pPr marL="0" indent="0" algn="just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		AUC: 0.99    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7BA4E-FA80-4BDC-9495-CBABB75CD70D}"/>
              </a:ext>
            </a:extLst>
          </p:cNvPr>
          <p:cNvSpPr txBox="1"/>
          <p:nvPr/>
        </p:nvSpPr>
        <p:spPr>
          <a:xfrm flipH="1">
            <a:off x="-1" y="6250842"/>
            <a:ext cx="12367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Fig 6. Loss and Accuracy Graph of Resnet with Random forest           Fig 7. ROC curve for Resnet with Random Forest       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CAB68961-254C-02DE-4350-76412DB290C5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" t="4969" r="9289" b="7849"/>
          <a:stretch/>
        </p:blipFill>
        <p:spPr bwMode="auto">
          <a:xfrm>
            <a:off x="383624" y="2636856"/>
            <a:ext cx="7388777" cy="33289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28EB80-EC0C-4F09-B35B-5E954E6097E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772401" y="2658042"/>
            <a:ext cx="4294413" cy="332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99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09D9-41BF-E70E-4819-CF83E651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4835-D174-16E5-F64C-106BB8595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-6455"/>
            <a:ext cx="11179629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for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 with random forest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6026DC-2698-4FB9-A614-53357934CC10}"/>
              </a:ext>
            </a:extLst>
          </p:cNvPr>
          <p:cNvSpPr txBox="1"/>
          <p:nvPr/>
        </p:nvSpPr>
        <p:spPr>
          <a:xfrm>
            <a:off x="1280762" y="6265796"/>
            <a:ext cx="896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8. Confusion matrix for Classification using Resnet with Random Forest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E924C5B4-E688-43C6-89DE-AE2A5C661B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"/>
          <a:stretch/>
        </p:blipFill>
        <p:spPr>
          <a:xfrm>
            <a:off x="2896985" y="1002835"/>
            <a:ext cx="6654421" cy="53091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113B85-2D68-487D-89A2-BAE59AF71EE1}"/>
              </a:ext>
            </a:extLst>
          </p:cNvPr>
          <p:cNvSpPr txBox="1"/>
          <p:nvPr/>
        </p:nvSpPr>
        <p:spPr>
          <a:xfrm flipH="1">
            <a:off x="3748587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</a:rPr>
              <a:t>336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FF15EC-C21F-4C3F-9559-D6D84BC3EB61}"/>
              </a:ext>
            </a:extLst>
          </p:cNvPr>
          <p:cNvSpPr txBox="1"/>
          <p:nvPr/>
        </p:nvSpPr>
        <p:spPr>
          <a:xfrm flipH="1">
            <a:off x="3748587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EE10B3-1818-40FD-8184-F65652B22CFE}"/>
              </a:ext>
            </a:extLst>
          </p:cNvPr>
          <p:cNvSpPr txBox="1"/>
          <p:nvPr/>
        </p:nvSpPr>
        <p:spPr>
          <a:xfrm flipH="1">
            <a:off x="3748587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BFDE1E-93F2-4D9C-AE0A-9F7D364A1BD6}"/>
              </a:ext>
            </a:extLst>
          </p:cNvPr>
          <p:cNvSpPr txBox="1"/>
          <p:nvPr/>
        </p:nvSpPr>
        <p:spPr>
          <a:xfrm flipH="1">
            <a:off x="3748587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644DE6-FDBB-4ECF-8FA6-DBD02EF99CFD}"/>
              </a:ext>
            </a:extLst>
          </p:cNvPr>
          <p:cNvSpPr txBox="1"/>
          <p:nvPr/>
        </p:nvSpPr>
        <p:spPr>
          <a:xfrm flipH="1">
            <a:off x="4893776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5A2008-B97E-431D-9155-78A9E5AF6F93}"/>
              </a:ext>
            </a:extLst>
          </p:cNvPr>
          <p:cNvSpPr txBox="1"/>
          <p:nvPr/>
        </p:nvSpPr>
        <p:spPr>
          <a:xfrm flipH="1">
            <a:off x="4980753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</a:rPr>
              <a:t> 505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3F8605-96D4-4449-9AE5-9A312E0075F4}"/>
              </a:ext>
            </a:extLst>
          </p:cNvPr>
          <p:cNvSpPr txBox="1"/>
          <p:nvPr/>
        </p:nvSpPr>
        <p:spPr>
          <a:xfrm flipH="1">
            <a:off x="4893776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E4B2E4-F95C-4DC7-AAAE-729148E8BC8F}"/>
              </a:ext>
            </a:extLst>
          </p:cNvPr>
          <p:cNvSpPr txBox="1"/>
          <p:nvPr/>
        </p:nvSpPr>
        <p:spPr>
          <a:xfrm flipH="1">
            <a:off x="4893776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A859B5-392F-4000-B9F3-B25366092042}"/>
              </a:ext>
            </a:extLst>
          </p:cNvPr>
          <p:cNvSpPr txBox="1"/>
          <p:nvPr/>
        </p:nvSpPr>
        <p:spPr>
          <a:xfrm flipH="1">
            <a:off x="6245037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7FC6A3-C015-4A2C-BB4E-B593C87A54B0}"/>
              </a:ext>
            </a:extLst>
          </p:cNvPr>
          <p:cNvSpPr txBox="1"/>
          <p:nvPr/>
        </p:nvSpPr>
        <p:spPr>
          <a:xfrm flipH="1">
            <a:off x="6245037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FDA9B3-10EB-434B-8D1A-E61D3D062CA0}"/>
              </a:ext>
            </a:extLst>
          </p:cNvPr>
          <p:cNvSpPr txBox="1"/>
          <p:nvPr/>
        </p:nvSpPr>
        <p:spPr>
          <a:xfrm flipH="1">
            <a:off x="6210504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132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4F0610-856E-4DFF-A350-9AE4C74FBB3D}"/>
              </a:ext>
            </a:extLst>
          </p:cNvPr>
          <p:cNvSpPr txBox="1"/>
          <p:nvPr/>
        </p:nvSpPr>
        <p:spPr>
          <a:xfrm flipH="1">
            <a:off x="6245037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73493B-596C-4739-874D-8D047272DE5A}"/>
              </a:ext>
            </a:extLst>
          </p:cNvPr>
          <p:cNvSpPr txBox="1"/>
          <p:nvPr/>
        </p:nvSpPr>
        <p:spPr>
          <a:xfrm flipH="1">
            <a:off x="7390226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18ABF7-2AF8-4581-9068-AC2BCA82E681}"/>
              </a:ext>
            </a:extLst>
          </p:cNvPr>
          <p:cNvSpPr txBox="1"/>
          <p:nvPr/>
        </p:nvSpPr>
        <p:spPr>
          <a:xfrm flipH="1">
            <a:off x="7390226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312804-5D4B-4089-806E-AC0EC4CB79E4}"/>
              </a:ext>
            </a:extLst>
          </p:cNvPr>
          <p:cNvSpPr txBox="1"/>
          <p:nvPr/>
        </p:nvSpPr>
        <p:spPr>
          <a:xfrm flipH="1">
            <a:off x="7390226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BB14A9-AFBD-4900-BD6D-9481B8976F01}"/>
              </a:ext>
            </a:extLst>
          </p:cNvPr>
          <p:cNvSpPr txBox="1"/>
          <p:nvPr/>
        </p:nvSpPr>
        <p:spPr>
          <a:xfrm flipH="1">
            <a:off x="7410237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223</a:t>
            </a:r>
          </a:p>
        </p:txBody>
      </p:sp>
    </p:spTree>
    <p:extLst>
      <p:ext uri="{BB962C8B-B14F-4D97-AF65-F5344CB8AC3E}">
        <p14:creationId xmlns:p14="http://schemas.microsoft.com/office/powerpoint/2010/main" val="2174427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9E8B-84B9-4DAD-19EE-5FB7ABE5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8EA6-33C8-56EE-8B44-8A48699E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-4951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for Vision transformer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EAE8AE-9FB1-4462-B6C4-B710DF6FF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73813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achieved good accuracy, indicating its ability to accurately detect kidney disease with minimal misclassification.        																	AUC=0.9982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1359B7-9255-4526-827C-21300C3D48F4}"/>
              </a:ext>
            </a:extLst>
          </p:cNvPr>
          <p:cNvSpPr txBox="1"/>
          <p:nvPr/>
        </p:nvSpPr>
        <p:spPr>
          <a:xfrm flipH="1">
            <a:off x="0" y="5968268"/>
            <a:ext cx="1208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Fig 9. Loss and Accuracy Graph of Vision Transformer                            Fig 10. ROC curve for Vision Transformer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0BE634-E666-47DE-8FE6-6C33E2716EC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" t="4859" r="11820" b="14753"/>
          <a:stretch/>
        </p:blipFill>
        <p:spPr bwMode="auto">
          <a:xfrm>
            <a:off x="558800" y="2610124"/>
            <a:ext cx="7082971" cy="32075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F4C53C-359D-4FA9-938D-1ED1D61F5C6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5" b="7863"/>
          <a:stretch/>
        </p:blipFill>
        <p:spPr bwMode="auto">
          <a:xfrm>
            <a:off x="7869147" y="2710145"/>
            <a:ext cx="4216011" cy="30740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96933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8DEA1-97A6-63A9-FB32-FC5A6C58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FE9F-48D7-8CEA-E004-3C411907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for Vision transformer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01C4E89-28FE-4ED3-A27C-113B55A0F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140" y="1078624"/>
            <a:ext cx="6837719" cy="523333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9FD401-2495-4902-BD51-FA1A7DC7F404}"/>
              </a:ext>
            </a:extLst>
          </p:cNvPr>
          <p:cNvSpPr txBox="1"/>
          <p:nvPr/>
        </p:nvSpPr>
        <p:spPr>
          <a:xfrm>
            <a:off x="1612776" y="6311963"/>
            <a:ext cx="896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11. Confusion matrix for Classification using Vision Transformer 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6BA0AB18-BCD1-4C47-8FBF-55EC197518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"/>
          <a:stretch/>
        </p:blipFill>
        <p:spPr>
          <a:xfrm>
            <a:off x="2896985" y="1002835"/>
            <a:ext cx="6654421" cy="53091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5FDA99-AA6C-40F3-8736-5DE512E82AB8}"/>
              </a:ext>
            </a:extLst>
          </p:cNvPr>
          <p:cNvSpPr txBox="1"/>
          <p:nvPr/>
        </p:nvSpPr>
        <p:spPr>
          <a:xfrm flipH="1">
            <a:off x="3748587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5</a:t>
            </a:r>
            <a:r>
              <a:rPr lang="en-IN" sz="13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2173B-A3D4-4594-B6F6-1DE17F1DAC41}"/>
              </a:ext>
            </a:extLst>
          </p:cNvPr>
          <p:cNvSpPr txBox="1"/>
          <p:nvPr/>
        </p:nvSpPr>
        <p:spPr>
          <a:xfrm flipH="1">
            <a:off x="3748587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90D37-019D-446F-82FE-FD1221CCBD0F}"/>
              </a:ext>
            </a:extLst>
          </p:cNvPr>
          <p:cNvSpPr txBox="1"/>
          <p:nvPr/>
        </p:nvSpPr>
        <p:spPr>
          <a:xfrm flipH="1">
            <a:off x="3748587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601292-000E-4F2A-AEC5-333D9D918E37}"/>
              </a:ext>
            </a:extLst>
          </p:cNvPr>
          <p:cNvSpPr txBox="1"/>
          <p:nvPr/>
        </p:nvSpPr>
        <p:spPr>
          <a:xfrm flipH="1">
            <a:off x="3748587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C5ECF5-03C1-4115-92AE-F0A86E491754}"/>
              </a:ext>
            </a:extLst>
          </p:cNvPr>
          <p:cNvSpPr txBox="1"/>
          <p:nvPr/>
        </p:nvSpPr>
        <p:spPr>
          <a:xfrm flipH="1">
            <a:off x="4893776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113C9E-263E-4F4B-825B-26EBFF1C2EF4}"/>
              </a:ext>
            </a:extLst>
          </p:cNvPr>
          <p:cNvSpPr txBox="1"/>
          <p:nvPr/>
        </p:nvSpPr>
        <p:spPr>
          <a:xfrm flipH="1">
            <a:off x="4942763" y="2613091"/>
            <a:ext cx="6940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</a:rPr>
              <a:t> 372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33C369-DF4D-4095-BAC2-476DBF6F8605}"/>
              </a:ext>
            </a:extLst>
          </p:cNvPr>
          <p:cNvSpPr txBox="1"/>
          <p:nvPr/>
        </p:nvSpPr>
        <p:spPr>
          <a:xfrm flipH="1">
            <a:off x="4893776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2AEE4E-E74E-4B14-80C8-44BA7192F401}"/>
              </a:ext>
            </a:extLst>
          </p:cNvPr>
          <p:cNvSpPr txBox="1"/>
          <p:nvPr/>
        </p:nvSpPr>
        <p:spPr>
          <a:xfrm flipH="1">
            <a:off x="4893776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66BB79-89FB-4939-8AF3-183B62EF0C77}"/>
              </a:ext>
            </a:extLst>
          </p:cNvPr>
          <p:cNvSpPr txBox="1"/>
          <p:nvPr/>
        </p:nvSpPr>
        <p:spPr>
          <a:xfrm flipH="1">
            <a:off x="6245037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88A43B-5BB9-40ED-A0D3-3327FBD6B900}"/>
              </a:ext>
            </a:extLst>
          </p:cNvPr>
          <p:cNvSpPr txBox="1"/>
          <p:nvPr/>
        </p:nvSpPr>
        <p:spPr>
          <a:xfrm flipH="1">
            <a:off x="6245037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33751-0F30-4467-9287-EAFA5C92F87B}"/>
              </a:ext>
            </a:extLst>
          </p:cNvPr>
          <p:cNvSpPr txBox="1"/>
          <p:nvPr/>
        </p:nvSpPr>
        <p:spPr>
          <a:xfrm flipH="1">
            <a:off x="6212379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131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C56935-ED1E-41DB-BDBC-06D1F07FF6AB}"/>
              </a:ext>
            </a:extLst>
          </p:cNvPr>
          <p:cNvSpPr txBox="1"/>
          <p:nvPr/>
        </p:nvSpPr>
        <p:spPr>
          <a:xfrm flipH="1">
            <a:off x="6245037" y="4873146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4720ED-6DD8-426E-8974-6893EE5B1712}"/>
              </a:ext>
            </a:extLst>
          </p:cNvPr>
          <p:cNvSpPr txBox="1"/>
          <p:nvPr/>
        </p:nvSpPr>
        <p:spPr>
          <a:xfrm flipH="1">
            <a:off x="7390226" y="1466662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F456A3-0394-43DA-BC8B-7092C4249823}"/>
              </a:ext>
            </a:extLst>
          </p:cNvPr>
          <p:cNvSpPr txBox="1"/>
          <p:nvPr/>
        </p:nvSpPr>
        <p:spPr>
          <a:xfrm flipH="1">
            <a:off x="7390226" y="2613091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4B0D75-AA6C-44AB-A4C2-252AF1D4FE21}"/>
              </a:ext>
            </a:extLst>
          </p:cNvPr>
          <p:cNvSpPr txBox="1"/>
          <p:nvPr/>
        </p:nvSpPr>
        <p:spPr>
          <a:xfrm flipH="1">
            <a:off x="7390226" y="3743119"/>
            <a:ext cx="4879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  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36AB82-1932-46BF-B7B8-406DFC84D9E8}"/>
              </a:ext>
            </a:extLst>
          </p:cNvPr>
          <p:cNvSpPr txBox="1"/>
          <p:nvPr/>
        </p:nvSpPr>
        <p:spPr>
          <a:xfrm flipH="1">
            <a:off x="7439212" y="4873146"/>
            <a:ext cx="51280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228</a:t>
            </a:r>
          </a:p>
        </p:txBody>
      </p:sp>
    </p:spTree>
    <p:extLst>
      <p:ext uri="{BB962C8B-B14F-4D97-AF65-F5344CB8AC3E}">
        <p14:creationId xmlns:p14="http://schemas.microsoft.com/office/powerpoint/2010/main" val="1441763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9E8B-84B9-4DAD-19EE-5FB7ABE5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8EA6-33C8-56EE-8B44-8A48699E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579" y="-163739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Comparision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F6DFCB3E-CCAF-42A6-88A7-088E367B4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29307"/>
              </p:ext>
            </p:extLst>
          </p:nvPr>
        </p:nvGraphicFramePr>
        <p:xfrm>
          <a:off x="834579" y="2106875"/>
          <a:ext cx="10358370" cy="264424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071674">
                  <a:extLst>
                    <a:ext uri="{9D8B030D-6E8A-4147-A177-3AD203B41FA5}">
                      <a16:colId xmlns:a16="http://schemas.microsoft.com/office/drawing/2014/main" val="1897245864"/>
                    </a:ext>
                  </a:extLst>
                </a:gridCol>
                <a:gridCol w="2071674">
                  <a:extLst>
                    <a:ext uri="{9D8B030D-6E8A-4147-A177-3AD203B41FA5}">
                      <a16:colId xmlns:a16="http://schemas.microsoft.com/office/drawing/2014/main" val="902641743"/>
                    </a:ext>
                  </a:extLst>
                </a:gridCol>
                <a:gridCol w="2071674">
                  <a:extLst>
                    <a:ext uri="{9D8B030D-6E8A-4147-A177-3AD203B41FA5}">
                      <a16:colId xmlns:a16="http://schemas.microsoft.com/office/drawing/2014/main" val="2418893670"/>
                    </a:ext>
                  </a:extLst>
                </a:gridCol>
                <a:gridCol w="2071674">
                  <a:extLst>
                    <a:ext uri="{9D8B030D-6E8A-4147-A177-3AD203B41FA5}">
                      <a16:colId xmlns:a16="http://schemas.microsoft.com/office/drawing/2014/main" val="2496390368"/>
                    </a:ext>
                  </a:extLst>
                </a:gridCol>
                <a:gridCol w="2071674">
                  <a:extLst>
                    <a:ext uri="{9D8B030D-6E8A-4147-A177-3AD203B41FA5}">
                      <a16:colId xmlns:a16="http://schemas.microsoft.com/office/drawing/2014/main" val="3923985122"/>
                    </a:ext>
                  </a:extLst>
                </a:gridCol>
              </a:tblGrid>
              <a:tr h="595955"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468173"/>
                  </a:ext>
                </a:extLst>
              </a:tr>
              <a:tr h="595955"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647739"/>
                  </a:ext>
                </a:extLst>
              </a:tr>
              <a:tr h="774195"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 with Random forest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0.968</a:t>
                      </a: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43701"/>
                  </a:ext>
                </a:extLst>
              </a:tr>
              <a:tr h="67814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2826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E97C84-F803-416D-B100-C97E3AFF4D9F}"/>
              </a:ext>
            </a:extLst>
          </p:cNvPr>
          <p:cNvSpPr txBox="1"/>
          <p:nvPr/>
        </p:nvSpPr>
        <p:spPr>
          <a:xfrm>
            <a:off x="3784430" y="1436490"/>
            <a:ext cx="461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different models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7C4471-D439-404E-8224-B37BD3ABDE60}"/>
              </a:ext>
            </a:extLst>
          </p:cNvPr>
          <p:cNvCxnSpPr>
            <a:cxnSpLocks/>
          </p:cNvCxnSpPr>
          <p:nvPr/>
        </p:nvCxnSpPr>
        <p:spPr>
          <a:xfrm>
            <a:off x="834579" y="2106875"/>
            <a:ext cx="2089561" cy="591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EDE8ED3-EFFD-42FA-91AD-660C3D485CCD}"/>
              </a:ext>
            </a:extLst>
          </p:cNvPr>
          <p:cNvSpPr txBox="1"/>
          <p:nvPr/>
        </p:nvSpPr>
        <p:spPr>
          <a:xfrm>
            <a:off x="1916872" y="2080489"/>
            <a:ext cx="938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Metrics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088B4-AFCC-4EBD-BCCF-A57BCF6C6F5E}"/>
              </a:ext>
            </a:extLst>
          </p:cNvPr>
          <p:cNvSpPr txBox="1"/>
          <p:nvPr/>
        </p:nvSpPr>
        <p:spPr>
          <a:xfrm>
            <a:off x="1020473" y="2311322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02005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Standards</a:t>
            </a:r>
            <a:endParaRPr lang="en-US" sz="44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685800" indent="-457200" algn="just">
              <a:spcBef>
                <a:spcPts val="1417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12207 - Software Lifecycle Processes</a:t>
            </a:r>
          </a:p>
          <a:p>
            <a:pPr marL="685800" indent="-457200" algn="just">
              <a:spcBef>
                <a:spcPts val="1417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14971 - Risk Management for Medical Devices</a:t>
            </a:r>
          </a:p>
          <a:p>
            <a:pPr marL="685800" indent="-457200" algn="just">
              <a:spcBef>
                <a:spcPts val="1417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HIPAA (Health Insurance Portability and Accountability Act)</a:t>
            </a:r>
          </a:p>
          <a:p>
            <a:pPr marL="685800" indent="-457200" algn="just">
              <a:spcBef>
                <a:spcPts val="1417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1878 - Health Informatics - Digital Imaging and Communication in Medicine (DICOM)</a:t>
            </a:r>
          </a:p>
          <a:p>
            <a:pPr marL="685800" indent="-457200" algn="just">
              <a:spcBef>
                <a:spcPts val="1417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pep8- Python Enhancement proposal 8</a:t>
            </a:r>
          </a:p>
          <a:p>
            <a:pPr marL="685800" indent="-457200" algn="just">
              <a:spcBef>
                <a:spcPts val="1417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Clinical Practice (GCP) Standards</a:t>
            </a:r>
          </a:p>
          <a:p>
            <a:pPr marL="685800" indent="-457200" algn="just">
              <a:spcBef>
                <a:spcPts val="1417"/>
              </a:spcBef>
            </a:pP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Realistic Constraints</a:t>
            </a: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92937" y="1564303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9710" marR="831850" indent="0" algn="just">
              <a:lnSpc>
                <a:spcPct val="150000"/>
              </a:lnSpc>
              <a:spcAft>
                <a:spcPts val="0"/>
              </a:spcAft>
              <a:buNone/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 learning models require significant computational power, especially for training.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Models risk overfitting on the training data if not properly regularized or if the dataset lacks diversity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 a minor error in code, forgetting to import a particular library, wrong implementation of a function would need us to redo the whole training process again</a:t>
            </a:r>
          </a:p>
          <a:p>
            <a:pPr algn="just"/>
            <a:endParaRPr lang="en-US" sz="2500" spc="-1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3DDB-5447-451C-B0C3-954E0949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Software/Hardware Required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C269B-43B8-3CC4-80CD-4061DA810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frameworks like TensorFlow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Programming language is Python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and processing tools like NumPy and Pandas for numerical and data manipulation in Python and OpenCV for computer vision tasks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IDE( Integrated Development Environments) for coding and managing projects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 libraries and Tensor Board for creating plots and visualizations. GitHub for hosting repositories and collaboration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hardware with robust CPU and at least 16GB RAM</a:t>
            </a:r>
          </a:p>
        </p:txBody>
      </p:sp>
    </p:spTree>
    <p:extLst>
      <p:ext uri="{BB962C8B-B14F-4D97-AF65-F5344CB8AC3E}">
        <p14:creationId xmlns:p14="http://schemas.microsoft.com/office/powerpoint/2010/main" val="1167359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B8C27-4AB8-D5B3-7F58-61C917FB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059EE-3D0C-A06E-9F6E-8D229D083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1843"/>
            <a:ext cx="10515600" cy="548151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[1] Hridoy, M. F. R., Asif, A., Mahmud, M., Rahman, R., &amp; Siraj, M. S. (2024). Artificial intelligence in nephrology: detecting chronic kidney disease using neural network (</a:t>
            </a:r>
            <a:r>
              <a:rPr lang="en-US" sz="18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Doctoral dissertation, Brac University</a:t>
            </a: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[2] Jeyalakshmi, G., Lloyd, F. V., Subbulakshmi, K., &amp; Vinudevi, G. (2024). A Biomedical Dataset Analysis on Predictive Modeling of Chronic Kidney Disease Using Machine Learning. In </a:t>
            </a:r>
            <a:r>
              <a:rPr lang="en-US" sz="18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Optimizing Intelligent Systems for Cross-Industry Application</a:t>
            </a: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(pp. 175-196). IGI Global..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[3] Bittencourt, J. A. S., Sousa, C. M., Santana, E. E. C., Moraes, Y. A. C. D., Carneiro, E. C. R. D. L., Fontes, A. J. C., ... &amp; Nascimento, M. D. D. S. B. (2024). Prediction of metabolic syndrome and its associated risk factors in patients with chronic kidney disease using machine learning techniques</a:t>
            </a:r>
            <a:r>
              <a:rPr lang="en-US" sz="18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Brazilian Journal of Nephrology</a:t>
            </a: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46(4), e20230135.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[4] Satukumati, S. B., &amp; Bhat, M. N. (2024). Early detection of chronic kidney disease using data mining methods</a:t>
            </a:r>
            <a:r>
              <a:rPr lang="en-US" sz="18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Advanced Intelligence Paradigms</a:t>
            </a: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28(1-2), 86-99.</a:t>
            </a:r>
          </a:p>
          <a:p>
            <a:pPr marL="0" indent="0" algn="just">
              <a:buNone/>
            </a:pPr>
            <a:r>
              <a:rPr lang="en-US" sz="180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[5] Azizah, M. F., &amp; Paramitha, A. T. (2024). Predictive modelling of chronic kidney disease using gaussian naive bayes algorithm. </a:t>
            </a:r>
            <a:r>
              <a:rPr lang="en-US" sz="180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Artificial Intelligence in Medical Issues</a:t>
            </a:r>
            <a:r>
              <a:rPr lang="en-US" sz="180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2(2), 125-135..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[6] Dharmarathne, G., Bogahawaththa, M., McAfee, M., Rathnayake, U., &amp; Meddage, D. P. P. (2024). On the diagnosis of chronic kidney disease using a machine learning-based interface with explainable artificial intelligence. </a:t>
            </a:r>
            <a:r>
              <a:rPr lang="en-US" sz="18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Systems with Applications</a:t>
            </a: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200397..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[7] Liu, S., Liu, S., Cai, W., Pujol, S., Kikinis, R., &amp; Feng, D. (2014, April). Early diagnosis of Alzheimer's disease with deep learning. In </a:t>
            </a:r>
            <a:r>
              <a:rPr lang="en-US" sz="18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2014 IEEE 11th international symposium on biomedical imaging (ISBI)</a:t>
            </a: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(pp. 1015-1018). IEEE.</a:t>
            </a:r>
          </a:p>
          <a:p>
            <a:pPr algn="just"/>
            <a:endParaRPr lang="en-US" sz="180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410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95CB6-2435-4387-AE78-258EFB86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675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4382</TotalTime>
  <Words>1968</Words>
  <Application>Microsoft Office PowerPoint</Application>
  <PresentationFormat>Widescreen</PresentationFormat>
  <Paragraphs>289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A Novel Vision Transformer Based Deep Learning Model to Predict Chronic Kidney Disease</vt:lpstr>
      <vt:lpstr>Index</vt:lpstr>
      <vt:lpstr>Introduction</vt:lpstr>
      <vt:lpstr> Objective of the work</vt:lpstr>
      <vt:lpstr>Problem Statement</vt:lpstr>
      <vt:lpstr>Literature Review</vt:lpstr>
      <vt:lpstr>Literature Review</vt:lpstr>
      <vt:lpstr>Literature Review</vt:lpstr>
      <vt:lpstr>Literature Review</vt:lpstr>
      <vt:lpstr>Novelty </vt:lpstr>
      <vt:lpstr>Block Diagram</vt:lpstr>
      <vt:lpstr>          Design of ResNet50</vt:lpstr>
      <vt:lpstr>Design of Vision Transformer </vt:lpstr>
      <vt:lpstr>Results for Resnet</vt:lpstr>
      <vt:lpstr>Confusion matrix for Resnet</vt:lpstr>
      <vt:lpstr>Results for Resnet with random forest </vt:lpstr>
      <vt:lpstr>Confusion matrix for Resnet with random forest </vt:lpstr>
      <vt:lpstr>Results for Vision transformer</vt:lpstr>
      <vt:lpstr>Confusion matrix for Vision transformer</vt:lpstr>
      <vt:lpstr>Results Comparision</vt:lpstr>
      <vt:lpstr>Engineering Standards</vt:lpstr>
      <vt:lpstr>Realistic Constraints</vt:lpstr>
      <vt:lpstr>Software/Hardware Required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Project- Batch No</dc:title>
  <dc:creator>Vadivukkarasi K</dc:creator>
  <cp:lastModifiedBy>satish M</cp:lastModifiedBy>
  <cp:revision>274</cp:revision>
  <dcterms:created xsi:type="dcterms:W3CDTF">2024-01-05T04:56:25Z</dcterms:created>
  <dcterms:modified xsi:type="dcterms:W3CDTF">2025-05-06T12:59:07Z</dcterms:modified>
</cp:coreProperties>
</file>